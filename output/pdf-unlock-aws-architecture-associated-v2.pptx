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87130" autoAdjust="0"/>
  </p:normalViewPr>
  <p:slideViewPr>
    <p:cSldViewPr snapToGrid="0">
      <p:cViewPr varScale="1">
        <p:scale>
          <a:sx n="79" d="100"/>
          <a:sy n="79" d="100"/>
        </p:scale>
        <p:origin x="120" y="14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7482F-7289-14D3-E8D4-61CEBB4CA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A19685-51A3-2B56-2A4B-982FF5BE4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11A5D0-E5AC-1EF5-FF59-42AB3095A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構成根拠</a:t>
            </a:r>
            <a:r>
              <a:rPr dirty="0"/>
              <a:t>: </a:t>
            </a:r>
            <a:r>
              <a:rPr dirty="0" err="1"/>
              <a:t>リポジトリの</a:t>
            </a:r>
            <a:r>
              <a:rPr dirty="0"/>
              <a:t> </a:t>
            </a:r>
            <a:r>
              <a:rPr dirty="0" err="1"/>
              <a:t>README.md、terraform</a:t>
            </a:r>
            <a:r>
              <a:rPr dirty="0"/>
              <a:t>/</a:t>
            </a:r>
            <a:r>
              <a:rPr dirty="0" err="1"/>
              <a:t>main.tf、Lambda実装</a:t>
            </a:r>
            <a:r>
              <a:rPr dirty="0"/>
              <a:t>。</a:t>
            </a:r>
          </a:p>
          <a:p>
            <a:r>
              <a:rPr dirty="0"/>
              <a:t>2つのLambdaはIAM実行ロールを共有し、それぞれCloudWatch </a:t>
            </a:r>
            <a:r>
              <a:rPr dirty="0" err="1"/>
              <a:t>Logsへ実行ログを出力</a:t>
            </a:r>
            <a:r>
              <a:rPr dirty="0"/>
              <a:t>。</a:t>
            </a:r>
          </a:p>
          <a:p>
            <a:r>
              <a:rPr dirty="0"/>
              <a:t>PDF </a:t>
            </a:r>
            <a:r>
              <a:rPr dirty="0" err="1"/>
              <a:t>UnlockのパスワードはTerraform変数</a:t>
            </a:r>
            <a:r>
              <a:rPr dirty="0"/>
              <a:t> </a:t>
            </a:r>
            <a:r>
              <a:rPr dirty="0" err="1"/>
              <a:t>pdf_password</a:t>
            </a:r>
            <a:r>
              <a:rPr dirty="0"/>
              <a:t> </a:t>
            </a:r>
            <a:r>
              <a:rPr dirty="0" err="1"/>
              <a:t>からLambda環境変数</a:t>
            </a:r>
            <a:r>
              <a:rPr dirty="0"/>
              <a:t> PDF_PASSWORD </a:t>
            </a:r>
            <a:r>
              <a:rPr dirty="0" err="1"/>
              <a:t>に設定</a:t>
            </a:r>
            <a:r>
              <a:rPr dirty="0"/>
              <a:t>。</a:t>
            </a:r>
          </a:p>
          <a:p>
            <a:r>
              <a:rPr dirty="0" err="1"/>
              <a:t>AWSアイコン</a:t>
            </a:r>
            <a:r>
              <a:rPr dirty="0"/>
              <a:t>: AWS Architecture Icons, https://aws.amazon.com/architecture/icons/ （2026-09-09参照）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BDC63-1BDD-33BE-A651-71E46B14E77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5496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25FE4-986E-E492-26C4-B94B327B0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E0CB13DB-E909-44CE-33A7-8590D5A4621E}"/>
              </a:ext>
            </a:extLst>
          </p:cNvPr>
          <p:cNvSpPr>
            <a:spLocks noGrp="1"/>
          </p:cNvSpPr>
          <p:nvPr/>
        </p:nvSpPr>
        <p:spPr>
          <a:xfrm>
            <a:off x="2544417" y="906119"/>
            <a:ext cx="8943584" cy="5599460"/>
          </a:xfrm>
          <a:prstGeom prst="roundRect">
            <a:avLst>
              <a:gd name="adj" fmla="val 1509"/>
            </a:avLst>
          </a:prstGeom>
          <a:noFill/>
          <a:ln w="14288">
            <a:solidFill>
              <a:srgbClr val="879196"/>
            </a:solidFill>
            <a:prstDash val="dash"/>
          </a:ln>
        </p:spPr>
      </p:sp>
      <p:sp>
        <p:nvSpPr>
          <p:cNvPr id="110" name="四角形: 角を丸くする 109">
            <a:extLst>
              <a:ext uri="{FF2B5EF4-FFF2-40B4-BE49-F238E27FC236}">
                <a16:creationId xmlns:a16="http://schemas.microsoft.com/office/drawing/2014/main" id="{3AC0A4A6-CF1D-8554-68AC-48C06A984800}"/>
              </a:ext>
            </a:extLst>
          </p:cNvPr>
          <p:cNvSpPr>
            <a:spLocks noGrp="1"/>
          </p:cNvSpPr>
          <p:nvPr/>
        </p:nvSpPr>
        <p:spPr>
          <a:xfrm>
            <a:off x="5259122" y="4202510"/>
            <a:ext cx="5848350" cy="2003353"/>
          </a:xfrm>
          <a:prstGeom prst="roundRect">
            <a:avLst>
              <a:gd name="adj" fmla="val 3200"/>
            </a:avLst>
          </a:prstGeom>
          <a:noFill/>
          <a:ln w="0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A2EEECE9-4B0C-B919-226C-F90D4BC466E0}"/>
              </a:ext>
            </a:extLst>
          </p:cNvPr>
          <p:cNvSpPr>
            <a:spLocks noGrp="1"/>
          </p:cNvSpPr>
          <p:nvPr/>
        </p:nvSpPr>
        <p:spPr>
          <a:xfrm>
            <a:off x="154542" y="113063"/>
            <a:ext cx="1104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400" b="1">
                <a:solidFill>
                  <a:srgbClr val="232F3E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2400" b="1" dirty="0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パス付き</a:t>
            </a:r>
            <a:r>
              <a:rPr lang="en-US" altLang="ja-JP" sz="2400" b="1" dirty="0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PDF</a:t>
            </a:r>
            <a:r>
              <a:rPr lang="ja-JP" altLang="en-US" sz="2400" b="1" dirty="0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解除</a:t>
            </a:r>
            <a:endParaRPr sz="2400" b="1" dirty="0">
              <a:solidFill>
                <a:srgbClr val="232F3E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1ACA4E3-57A9-D95D-C1CE-C19CD08A4B50}"/>
              </a:ext>
            </a:extLst>
          </p:cNvPr>
          <p:cNvSpPr>
            <a:spLocks noGrp="1"/>
          </p:cNvSpPr>
          <p:nvPr/>
        </p:nvSpPr>
        <p:spPr>
          <a:xfrm>
            <a:off x="559884" y="551213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1275" b="0" dirty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Amazon </a:t>
            </a:r>
            <a:r>
              <a:rPr sz="1275" b="0" dirty="0" err="1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SESで受信したメールから</a:t>
            </a:r>
            <a:r>
              <a:rPr lang="ja-JP" altLang="en-US" sz="1275" b="0" dirty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パス付き</a:t>
            </a:r>
            <a:r>
              <a:rPr sz="1275" b="0" dirty="0" err="1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PDFを抽出し、</a:t>
            </a:r>
            <a:r>
              <a:rPr lang="en-US" altLang="ja-JP" sz="1275" b="0" dirty="0" err="1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Lambda</a:t>
            </a:r>
            <a:r>
              <a:rPr lang="ja-JP" altLang="en-US" sz="1275" b="0" dirty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で</a:t>
            </a:r>
            <a:r>
              <a:rPr sz="1275" b="0" dirty="0" err="1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連携して</a:t>
            </a:r>
            <a:r>
              <a:rPr lang="ja-JP" altLang="en-US" sz="1275" b="0" dirty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パス無し</a:t>
            </a:r>
            <a:r>
              <a:rPr lang="en-US" altLang="ja-JP" sz="1275" b="0" dirty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PDF</a:t>
            </a:r>
            <a:r>
              <a:rPr lang="ja-JP" altLang="en-US" sz="1275" b="0" dirty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として保存</a:t>
            </a:r>
            <a:r>
              <a:rPr sz="1275" b="0" dirty="0" err="1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する</a:t>
            </a:r>
            <a:endParaRPr sz="1275" b="0" dirty="0">
              <a:solidFill>
                <a:srgbClr val="5F6B7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BDAA709-7873-3D86-0FAE-5EF5EBC99074}"/>
              </a:ext>
            </a:extLst>
          </p:cNvPr>
          <p:cNvSpPr>
            <a:spLocks noGrp="1"/>
          </p:cNvSpPr>
          <p:nvPr/>
        </p:nvSpPr>
        <p:spPr>
          <a:xfrm>
            <a:off x="2597150" y="9446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232F3E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AWS Cloud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A74BC78-F4DC-D897-6F18-118673A95B99}"/>
              </a:ext>
            </a:extLst>
          </p:cNvPr>
          <p:cNvSpPr>
            <a:spLocks noGrp="1"/>
          </p:cNvSpPr>
          <p:nvPr/>
        </p:nvSpPr>
        <p:spPr>
          <a:xfrm>
            <a:off x="285750" y="1824289"/>
            <a:ext cx="1066800" cy="1200150"/>
          </a:xfrm>
          <a:prstGeom prst="roundRect">
            <a:avLst>
              <a:gd name="adj" fmla="val 7143"/>
            </a:avLst>
          </a:prstGeom>
          <a:solidFill>
            <a:srgbClr val="E9EEF3"/>
          </a:solidFill>
          <a:ln w="9525">
            <a:solidFill>
              <a:srgbClr val="AAB7B8"/>
            </a:solidFill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3C72256-2943-3887-1893-52D6AB79541C}"/>
              </a:ext>
            </a:extLst>
          </p:cNvPr>
          <p:cNvSpPr>
            <a:spLocks noGrp="1"/>
          </p:cNvSpPr>
          <p:nvPr/>
        </p:nvSpPr>
        <p:spPr>
          <a:xfrm>
            <a:off x="514350" y="1948114"/>
            <a:ext cx="609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2250" b="0">
                <a:solidFill>
                  <a:srgbClr val="232F3E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F5BC1B5-DA17-1710-607E-FCB211AB0732}"/>
              </a:ext>
            </a:extLst>
          </p:cNvPr>
          <p:cNvSpPr>
            <a:spLocks noGrp="1"/>
          </p:cNvSpPr>
          <p:nvPr/>
        </p:nvSpPr>
        <p:spPr>
          <a:xfrm>
            <a:off x="361950" y="2424364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2141" lnSpcReduction="20000"/>
          </a:bodyPr>
          <a:lstStyle/>
          <a:p>
            <a:pPr algn="ctr">
              <a:buNone/>
              <a:defRPr sz="1200" b="1">
                <a:solidFill>
                  <a:srgbClr val="232F3E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メール送信元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002D467-7F8D-DB48-CE47-41E3A64F9AED}"/>
              </a:ext>
            </a:extLst>
          </p:cNvPr>
          <p:cNvSpPr>
            <a:spLocks noGrp="1"/>
          </p:cNvSpPr>
          <p:nvPr/>
        </p:nvSpPr>
        <p:spPr>
          <a:xfrm>
            <a:off x="361950" y="2691064"/>
            <a:ext cx="914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9722" lnSpcReduction="10000"/>
          </a:bodyPr>
          <a:lstStyle/>
          <a:p>
            <a:pPr algn="ctr">
              <a:buNone/>
              <a:def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給与明細メール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51717E72-627B-E0DF-8D4D-B4F40174057F}"/>
              </a:ext>
            </a:extLst>
          </p:cNvPr>
          <p:cNvSpPr>
            <a:spLocks noGrp="1"/>
          </p:cNvSpPr>
          <p:nvPr/>
        </p:nvSpPr>
        <p:spPr>
          <a:xfrm>
            <a:off x="3311027" y="3735516"/>
            <a:ext cx="12001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</p:spPr>
      </p:sp>
      <p:pic>
        <p:nvPicPr>
          <p:cNvPr id="227" name="図 74">
            <a:extLst>
              <a:ext uri="{FF2B5EF4-FFF2-40B4-BE49-F238E27FC236}">
                <a16:creationId xmlns:a16="http://schemas.microsoft.com/office/drawing/2014/main" id="{F888AD91-5BC1-0D69-7585-BF3F91981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44402" y="3830766"/>
            <a:ext cx="533400" cy="533400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9BB92DE-5C0E-2AE2-8869-58A86C03F757}"/>
              </a:ext>
            </a:extLst>
          </p:cNvPr>
          <p:cNvSpPr>
            <a:spLocks noGrp="1"/>
          </p:cNvSpPr>
          <p:nvPr/>
        </p:nvSpPr>
        <p:spPr>
          <a:xfrm>
            <a:off x="3368177" y="4364166"/>
            <a:ext cx="1085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5686" lnSpcReduction="20000"/>
          </a:bodyPr>
          <a:lstStyle/>
          <a:p>
            <a:pPr algn="ctr">
              <a:buNone/>
              <a:defRPr sz="1275" b="1">
                <a:solidFill>
                  <a:srgbClr val="232F3E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Amazon Route 53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9643335-0D49-B617-ED1C-87BA71F56C60}"/>
              </a:ext>
            </a:extLst>
          </p:cNvPr>
          <p:cNvSpPr>
            <a:spLocks noGrp="1"/>
          </p:cNvSpPr>
          <p:nvPr/>
        </p:nvSpPr>
        <p:spPr>
          <a:xfrm>
            <a:off x="3368177" y="4583241"/>
            <a:ext cx="1085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278" lnSpcReduction="20000"/>
          </a:bodyPr>
          <a:lstStyle/>
          <a:p>
            <a:pPr algn="ctr">
              <a:buNone/>
              <a:def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受信用MXレコード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B7F660D4-5253-8E24-9091-12B6D7B41A65}"/>
              </a:ext>
            </a:extLst>
          </p:cNvPr>
          <p:cNvSpPr>
            <a:spLocks noGrp="1"/>
          </p:cNvSpPr>
          <p:nvPr/>
        </p:nvSpPr>
        <p:spPr>
          <a:xfrm>
            <a:off x="3305175" y="1871487"/>
            <a:ext cx="12001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</p:spPr>
      </p:sp>
      <p:pic>
        <p:nvPicPr>
          <p:cNvPr id="231" name="図 78">
            <a:extLst>
              <a:ext uri="{FF2B5EF4-FFF2-40B4-BE49-F238E27FC236}">
                <a16:creationId xmlns:a16="http://schemas.microsoft.com/office/drawing/2014/main" id="{F23D2B4C-038F-D445-5FEC-D744BB14A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638550" y="1966737"/>
            <a:ext cx="533400" cy="533400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7CF2463-F35F-E889-89A1-5552015D25BA}"/>
              </a:ext>
            </a:extLst>
          </p:cNvPr>
          <p:cNvSpPr>
            <a:spLocks noGrp="1"/>
          </p:cNvSpPr>
          <p:nvPr/>
        </p:nvSpPr>
        <p:spPr>
          <a:xfrm>
            <a:off x="3362325" y="2500137"/>
            <a:ext cx="1085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686" lnSpcReduction="20000"/>
          </a:bodyPr>
          <a:lstStyle/>
          <a:p>
            <a:pPr algn="ctr">
              <a:buNone/>
              <a:defRPr sz="1275" b="1">
                <a:solidFill>
                  <a:srgbClr val="232F3E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Amazon SES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6B06ECC-F0F7-4ACE-72AD-A7FB4A7EE4B0}"/>
              </a:ext>
            </a:extLst>
          </p:cNvPr>
          <p:cNvSpPr>
            <a:spLocks noGrp="1"/>
          </p:cNvSpPr>
          <p:nvPr/>
        </p:nvSpPr>
        <p:spPr>
          <a:xfrm>
            <a:off x="3362325" y="2719212"/>
            <a:ext cx="1085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278" lnSpcReduction="20000"/>
          </a:bodyPr>
          <a:lstStyle/>
          <a:p>
            <a:pPr algn="ctr">
              <a:buNone/>
              <a:def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受信ルール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BC891EEA-34D9-A4CF-3622-467307FA535C}"/>
              </a:ext>
            </a:extLst>
          </p:cNvPr>
          <p:cNvSpPr>
            <a:spLocks noGrp="1"/>
          </p:cNvSpPr>
          <p:nvPr/>
        </p:nvSpPr>
        <p:spPr>
          <a:xfrm>
            <a:off x="5288517" y="1057672"/>
            <a:ext cx="5848350" cy="2628900"/>
          </a:xfrm>
          <a:prstGeom prst="roundRect">
            <a:avLst>
              <a:gd name="adj" fmla="val 3200"/>
            </a:avLst>
          </a:prstGeom>
          <a:solidFill>
            <a:srgbClr val="F8FBF5"/>
          </a:solidFill>
          <a:ln w="19050">
            <a:solidFill>
              <a:srgbClr val="7AA116"/>
            </a:solidFill>
            <a:prstDash val="solid"/>
          </a:ln>
        </p:spPr>
      </p:sp>
      <p:pic>
        <p:nvPicPr>
          <p:cNvPr id="235" name="図 82">
            <a:extLst>
              <a:ext uri="{FF2B5EF4-FFF2-40B4-BE49-F238E27FC236}">
                <a16:creationId xmlns:a16="http://schemas.microsoft.com/office/drawing/2014/main" id="{D1B7F50D-5DBE-0BB5-4122-8BDD3577DA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450442" y="1181497"/>
            <a:ext cx="457200" cy="457200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5AA6882-744B-0803-1BB2-5035B7C5B43B}"/>
              </a:ext>
            </a:extLst>
          </p:cNvPr>
          <p:cNvSpPr>
            <a:spLocks noGrp="1"/>
          </p:cNvSpPr>
          <p:nvPr/>
        </p:nvSpPr>
        <p:spPr>
          <a:xfrm>
            <a:off x="5993367" y="1191022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l">
              <a:buNone/>
              <a:defRPr sz="1500" b="1">
                <a:solidFill>
                  <a:srgbClr val="232F3E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Amazon S3  対象バケット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9EAD6011-0D43-F106-2837-156A605E81A8}"/>
              </a:ext>
            </a:extLst>
          </p:cNvPr>
          <p:cNvSpPr>
            <a:spLocks noGrp="1"/>
          </p:cNvSpPr>
          <p:nvPr/>
        </p:nvSpPr>
        <p:spPr>
          <a:xfrm>
            <a:off x="5526642" y="1838722"/>
            <a:ext cx="15621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A9C477"/>
            </a:solidFill>
            <a:prstDash val="solid"/>
          </a:ln>
        </p:spPr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1A619D6-F837-4105-F8C8-CD1F3288E644}"/>
              </a:ext>
            </a:extLst>
          </p:cNvPr>
          <p:cNvSpPr>
            <a:spLocks noGrp="1"/>
          </p:cNvSpPr>
          <p:nvPr/>
        </p:nvSpPr>
        <p:spPr>
          <a:xfrm>
            <a:off x="5629275" y="1943497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347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2FF9F727-875E-7F7E-79AA-D959451EED65}"/>
              </a:ext>
            </a:extLst>
          </p:cNvPr>
          <p:cNvSpPr>
            <a:spLocks noGrp="1"/>
          </p:cNvSpPr>
          <p:nvPr/>
        </p:nvSpPr>
        <p:spPr>
          <a:xfrm>
            <a:off x="5629275" y="1943497"/>
            <a:ext cx="266700" cy="266700"/>
          </a:xfrm>
          <a:prstGeom prst="ellipse">
            <a:avLst/>
          </a:prstGeom>
          <a:solidFill>
            <a:srgbClr val="7AA116"/>
          </a:solidFill>
          <a:ln w="0">
            <a:solidFill>
              <a:srgbClr val="7AA11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916D46E-A3E7-AB51-0A80-AFB2947D1A5A}"/>
              </a:ext>
            </a:extLst>
          </p:cNvPr>
          <p:cNvSpPr>
            <a:spLocks noGrp="1"/>
          </p:cNvSpPr>
          <p:nvPr/>
        </p:nvSpPr>
        <p:spPr>
          <a:xfrm>
            <a:off x="5974317" y="1924447"/>
            <a:ext cx="9810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232F3E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生メール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E55469F-D3F3-6569-BF70-7C787E80206E}"/>
              </a:ext>
            </a:extLst>
          </p:cNvPr>
          <p:cNvSpPr>
            <a:spLocks noGrp="1"/>
          </p:cNvSpPr>
          <p:nvPr/>
        </p:nvSpPr>
        <p:spPr>
          <a:xfrm>
            <a:off x="5524501" y="2314972"/>
            <a:ext cx="1552574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612"/>
          </a:bodyPr>
          <a:lstStyle/>
          <a:p>
            <a:pPr algn="ctr">
              <a:buNone/>
              <a:defRPr sz="975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kyuyo-mail-original/</a:t>
            </a:r>
          </a:p>
          <a:p>
            <a:pPr algn="ctr">
              <a:buNone/>
              <a:defRPr sz="975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RFC 5322 / MIME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3032B607-5C4C-9B26-AF05-22D684A1B566}"/>
              </a:ext>
            </a:extLst>
          </p:cNvPr>
          <p:cNvSpPr>
            <a:spLocks noGrp="1"/>
          </p:cNvSpPr>
          <p:nvPr/>
        </p:nvSpPr>
        <p:spPr>
          <a:xfrm>
            <a:off x="7296150" y="1838722"/>
            <a:ext cx="17145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A9C477"/>
            </a:solidFill>
            <a:prstDash val="solid"/>
          </a:ln>
        </p:spPr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5A976E02-F8EF-8283-31BF-34552429A016}"/>
              </a:ext>
            </a:extLst>
          </p:cNvPr>
          <p:cNvSpPr>
            <a:spLocks noGrp="1"/>
          </p:cNvSpPr>
          <p:nvPr/>
        </p:nvSpPr>
        <p:spPr>
          <a:xfrm>
            <a:off x="7422117" y="1943497"/>
            <a:ext cx="266700" cy="266700"/>
          </a:xfrm>
          <a:prstGeom prst="ellipse">
            <a:avLst/>
          </a:prstGeom>
          <a:solidFill>
            <a:srgbClr val="7AA116"/>
          </a:solidFill>
          <a:ln w="0">
            <a:solidFill>
              <a:srgbClr val="7AA11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FA8E376-3954-4C4E-9F94-B2DDB6015250}"/>
              </a:ext>
            </a:extLst>
          </p:cNvPr>
          <p:cNvSpPr>
            <a:spLocks noGrp="1"/>
          </p:cNvSpPr>
          <p:nvPr/>
        </p:nvSpPr>
        <p:spPr>
          <a:xfrm>
            <a:off x="7755492" y="1924446"/>
            <a:ext cx="1200150" cy="3686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232F3E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75" b="1" dirty="0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パス付き</a:t>
            </a:r>
            <a:r>
              <a:rPr sz="1275" b="1" dirty="0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PDF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B053622-B4C4-6CA3-E0D9-DF0FD2F113C3}"/>
              </a:ext>
            </a:extLst>
          </p:cNvPr>
          <p:cNvSpPr>
            <a:spLocks noGrp="1"/>
          </p:cNvSpPr>
          <p:nvPr/>
        </p:nvSpPr>
        <p:spPr>
          <a:xfrm>
            <a:off x="7307817" y="2314972"/>
            <a:ext cx="1552574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75" b="0" dirty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incoming/{mail-id}/</a:t>
            </a:r>
          </a:p>
          <a:p>
            <a:pPr algn="ctr">
              <a:buNone/>
              <a:defRPr sz="975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75" b="0" dirty="0" err="1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パスワード付きPDF</a:t>
            </a:r>
            <a:endParaRPr sz="975" b="0" dirty="0">
              <a:solidFill>
                <a:srgbClr val="5F6B7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38B2CB78-C713-4B8A-6E7E-4ED8CEBA4B7D}"/>
              </a:ext>
            </a:extLst>
          </p:cNvPr>
          <p:cNvSpPr>
            <a:spLocks noGrp="1"/>
          </p:cNvSpPr>
          <p:nvPr/>
        </p:nvSpPr>
        <p:spPr>
          <a:xfrm>
            <a:off x="9218057" y="1838722"/>
            <a:ext cx="1649967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A9C477"/>
            </a:solidFill>
            <a:prstDash val="solid"/>
          </a:ln>
        </p:spPr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17725975-0D96-F509-D108-1D48C383EC39}"/>
              </a:ext>
            </a:extLst>
          </p:cNvPr>
          <p:cNvSpPr>
            <a:spLocks noGrp="1"/>
          </p:cNvSpPr>
          <p:nvPr/>
        </p:nvSpPr>
        <p:spPr>
          <a:xfrm>
            <a:off x="9313280" y="1950004"/>
            <a:ext cx="266700" cy="266700"/>
          </a:xfrm>
          <a:prstGeom prst="ellipse">
            <a:avLst/>
          </a:prstGeom>
          <a:solidFill>
            <a:srgbClr val="7AA116"/>
          </a:solidFill>
          <a:ln w="0">
            <a:solidFill>
              <a:srgbClr val="7AA11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4104F72F-1E5B-7AFE-751B-4AE31952E74E}"/>
              </a:ext>
            </a:extLst>
          </p:cNvPr>
          <p:cNvSpPr>
            <a:spLocks noGrp="1"/>
          </p:cNvSpPr>
          <p:nvPr/>
        </p:nvSpPr>
        <p:spPr>
          <a:xfrm>
            <a:off x="9536667" y="1924447"/>
            <a:ext cx="1209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232F3E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75" b="1" dirty="0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パス無し</a:t>
            </a:r>
            <a:r>
              <a:rPr sz="1275" b="1" dirty="0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PDF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719029A9-07CC-183B-E424-7075BB8AD701}"/>
              </a:ext>
            </a:extLst>
          </p:cNvPr>
          <p:cNvSpPr>
            <a:spLocks noGrp="1"/>
          </p:cNvSpPr>
          <p:nvPr/>
        </p:nvSpPr>
        <p:spPr>
          <a:xfrm>
            <a:off x="9088992" y="2314972"/>
            <a:ext cx="1790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decrypted/</a:t>
            </a:r>
          </a:p>
          <a:p>
            <a:pPr algn="ctr">
              <a:buNone/>
              <a:defRPr sz="975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パスワード無しPDF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CEB41A1-F4B6-4CA2-51E2-8A6915C3639E}"/>
              </a:ext>
            </a:extLst>
          </p:cNvPr>
          <p:cNvSpPr>
            <a:spLocks noGrp="1"/>
          </p:cNvSpPr>
          <p:nvPr/>
        </p:nvSpPr>
        <p:spPr>
          <a:xfrm>
            <a:off x="1352550" y="2244801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462"/>
          </a:bodyPr>
          <a:lstStyle/>
          <a:p>
            <a:pPr algn="ctr">
              <a:buNone/>
              <a:def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00" b="0" dirty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SMTP</a:t>
            </a:r>
          </a:p>
        </p:txBody>
      </p:sp>
      <p:cxnSp>
        <p:nvCxnSpPr>
          <p:cNvPr id="252" name="直線矢印コネクタ 99">
            <a:extLst>
              <a:ext uri="{FF2B5EF4-FFF2-40B4-BE49-F238E27FC236}">
                <a16:creationId xmlns:a16="http://schemas.microsoft.com/office/drawing/2014/main" id="{C37638B9-0B95-CCC0-6F97-0FDF160C086A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 flipV="1">
            <a:off x="1352550" y="2423937"/>
            <a:ext cx="1952625" cy="427"/>
          </a:xfrm>
          <a:prstGeom prst="straightConnector1">
            <a:avLst/>
          </a:prstGeom>
          <a:ln w="19050">
            <a:solidFill>
              <a:srgbClr val="5F6B7A"/>
            </a:solidFill>
            <a:prstDash val="solid"/>
            <a:tailEnd type="triangle" w="med" len="med"/>
          </a:ln>
        </p:spPr>
      </p:cxnSp>
      <p:cxnSp>
        <p:nvCxnSpPr>
          <p:cNvPr id="253" name="直線矢印コネクタ 100">
            <a:extLst>
              <a:ext uri="{FF2B5EF4-FFF2-40B4-BE49-F238E27FC236}">
                <a16:creationId xmlns:a16="http://schemas.microsoft.com/office/drawing/2014/main" id="{3E59F978-575A-27C8-0B7D-6FD84BB2F990}"/>
              </a:ext>
            </a:extLst>
          </p:cNvPr>
          <p:cNvCxnSpPr>
            <a:stCxn id="13" idx="3"/>
            <a:endCxn id="20" idx="1"/>
          </p:cNvCxnSpPr>
          <p:nvPr/>
        </p:nvCxnSpPr>
        <p:spPr>
          <a:xfrm>
            <a:off x="4505325" y="2423937"/>
            <a:ext cx="1021317" cy="5335"/>
          </a:xfrm>
          <a:prstGeom prst="straightConnector1">
            <a:avLst/>
          </a:prstGeom>
          <a:ln w="19050">
            <a:solidFill>
              <a:srgbClr val="5F6B7A"/>
            </a:solidFill>
            <a:prstDash val="solid"/>
            <a:tailEnd type="triangle" w="med" len="med"/>
          </a:ln>
        </p:spPr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78D78F08-8794-C058-40A5-18CB9870FB98}"/>
              </a:ext>
            </a:extLst>
          </p:cNvPr>
          <p:cNvSpPr>
            <a:spLocks noGrp="1"/>
          </p:cNvSpPr>
          <p:nvPr/>
        </p:nvSpPr>
        <p:spPr>
          <a:xfrm>
            <a:off x="4493709" y="2198238"/>
            <a:ext cx="8286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729"/>
          </a:bodyPr>
          <a:lstStyle/>
          <a:p>
            <a:pPr algn="ctr">
              <a:buNone/>
              <a:def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00" b="0" dirty="0" err="1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メール保存</a:t>
            </a:r>
            <a:endParaRPr sz="900" b="0" dirty="0">
              <a:solidFill>
                <a:srgbClr val="5F6B7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6964A86F-BAB8-E549-A783-67860AFCD1B6}"/>
              </a:ext>
            </a:extLst>
          </p:cNvPr>
          <p:cNvSpPr>
            <a:spLocks noGrp="1"/>
          </p:cNvSpPr>
          <p:nvPr/>
        </p:nvSpPr>
        <p:spPr>
          <a:xfrm>
            <a:off x="6532563" y="3830766"/>
            <a:ext cx="992187" cy="9588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</p:spPr>
      </p:sp>
      <p:pic>
        <p:nvPicPr>
          <p:cNvPr id="256" name="図 103">
            <a:extLst>
              <a:ext uri="{FF2B5EF4-FFF2-40B4-BE49-F238E27FC236}">
                <a16:creationId xmlns:a16="http://schemas.microsoft.com/office/drawing/2014/main" id="{09DD2747-C6A0-2E64-BBD0-B150ED6B17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778625" y="3897441"/>
            <a:ext cx="533400" cy="533400"/>
          </a:xfrm>
          <a:prstGeom prst="rect">
            <a:avLst/>
          </a:prstGeom>
        </p:spPr>
      </p:pic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4E94ECB7-E578-C2E3-1E51-0642AE64717E}"/>
              </a:ext>
            </a:extLst>
          </p:cNvPr>
          <p:cNvSpPr>
            <a:spLocks noGrp="1"/>
          </p:cNvSpPr>
          <p:nvPr/>
        </p:nvSpPr>
        <p:spPr>
          <a:xfrm>
            <a:off x="6353175" y="4459416"/>
            <a:ext cx="13525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686" lnSpcReduction="20000"/>
          </a:bodyPr>
          <a:lstStyle/>
          <a:p>
            <a:pPr algn="ctr">
              <a:buNone/>
              <a:defRPr sz="1275" b="1">
                <a:solidFill>
                  <a:srgbClr val="232F3E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PDF Extractor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FED77C2A-8112-30DD-4F80-308214FDD5BC}"/>
              </a:ext>
            </a:extLst>
          </p:cNvPr>
          <p:cNvSpPr>
            <a:spLocks noGrp="1"/>
          </p:cNvSpPr>
          <p:nvPr/>
        </p:nvSpPr>
        <p:spPr>
          <a:xfrm>
            <a:off x="6353175" y="4622928"/>
            <a:ext cx="13525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278" lnSpcReduction="20000"/>
          </a:bodyPr>
          <a:lstStyle/>
          <a:p>
            <a:pPr algn="ctr">
              <a:buNone/>
              <a:def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MIME解析・添付抽出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82D0C06C-C7BE-24C8-AA0C-7A41D050148B}"/>
              </a:ext>
            </a:extLst>
          </p:cNvPr>
          <p:cNvSpPr>
            <a:spLocks noGrp="1"/>
          </p:cNvSpPr>
          <p:nvPr/>
        </p:nvSpPr>
        <p:spPr>
          <a:xfrm>
            <a:off x="8328025" y="3830766"/>
            <a:ext cx="1085850" cy="9588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</p:spPr>
      </p:sp>
      <p:pic>
        <p:nvPicPr>
          <p:cNvPr id="260" name="図 107">
            <a:extLst>
              <a:ext uri="{FF2B5EF4-FFF2-40B4-BE49-F238E27FC236}">
                <a16:creationId xmlns:a16="http://schemas.microsoft.com/office/drawing/2014/main" id="{51E40219-C481-84CA-9DAB-C155BD69F6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610600" y="3926016"/>
            <a:ext cx="533400" cy="533400"/>
          </a:xfrm>
          <a:prstGeom prst="rect">
            <a:avLst/>
          </a:prstGeom>
        </p:spPr>
      </p:pic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0C477C74-7928-0C3C-6AF9-5952F5A9451F}"/>
              </a:ext>
            </a:extLst>
          </p:cNvPr>
          <p:cNvSpPr>
            <a:spLocks noGrp="1"/>
          </p:cNvSpPr>
          <p:nvPr/>
        </p:nvSpPr>
        <p:spPr>
          <a:xfrm>
            <a:off x="8201025" y="4459416"/>
            <a:ext cx="13525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686" lnSpcReduction="20000"/>
          </a:bodyPr>
          <a:lstStyle/>
          <a:p>
            <a:pPr algn="ctr">
              <a:buNone/>
              <a:defRPr sz="1275" b="1">
                <a:solidFill>
                  <a:srgbClr val="232F3E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PDF Unlock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DCE9FA39-93C7-7057-3045-BFB7394486DE}"/>
              </a:ext>
            </a:extLst>
          </p:cNvPr>
          <p:cNvSpPr>
            <a:spLocks noGrp="1"/>
          </p:cNvSpPr>
          <p:nvPr/>
        </p:nvSpPr>
        <p:spPr>
          <a:xfrm>
            <a:off x="8201025" y="4608641"/>
            <a:ext cx="13525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278" lnSpcReduction="20000"/>
          </a:bodyPr>
          <a:lstStyle/>
          <a:p>
            <a:pPr algn="ctr">
              <a:buNone/>
              <a:def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pypdfでパスワード解除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68CE7116-2FAD-B36E-A457-C0116033E7A4}"/>
              </a:ext>
            </a:extLst>
          </p:cNvPr>
          <p:cNvSpPr>
            <a:spLocks noGrp="1"/>
          </p:cNvSpPr>
          <p:nvPr/>
        </p:nvSpPr>
        <p:spPr>
          <a:xfrm>
            <a:off x="5399586" y="3200797"/>
            <a:ext cx="971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ObjectCreated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C0E42821-D5C9-BFD1-A533-88BE33BAF206}"/>
              </a:ext>
            </a:extLst>
          </p:cNvPr>
          <p:cNvSpPr>
            <a:spLocks noGrp="1"/>
          </p:cNvSpPr>
          <p:nvPr/>
        </p:nvSpPr>
        <p:spPr>
          <a:xfrm>
            <a:off x="6657973" y="3099268"/>
            <a:ext cx="923927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/>
          </a:bodyPr>
          <a:lstStyle/>
          <a:p>
            <a:pPr algn="ctr">
              <a:buNone/>
              <a:def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パスワード付き</a:t>
            </a:r>
            <a:br/>
            <a:r>
              <a: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PDF保存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7B0B4386-D91F-9C4B-8B75-69EADA15968C}"/>
              </a:ext>
            </a:extLst>
          </p:cNvPr>
          <p:cNvSpPr>
            <a:spLocks noGrp="1"/>
          </p:cNvSpPr>
          <p:nvPr/>
        </p:nvSpPr>
        <p:spPr>
          <a:xfrm>
            <a:off x="7677150" y="3315097"/>
            <a:ext cx="895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/>
          </a:bodyPr>
          <a:lstStyle/>
          <a:p>
            <a:pPr algn="ctr">
              <a:buNone/>
              <a:def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ObjectCreated</a:t>
            </a:r>
            <a:endParaRPr sz="900">
              <a:solidFill>
                <a:srgbClr val="5F6B7A"/>
              </a:solidFill>
              <a:latin typeface="Yu Gothic"/>
              <a:ea typeface="Yu Gothic"/>
              <a:cs typeface="Yu Gothic"/>
            </a:endParaRPr>
          </a:p>
          <a:p>
            <a:pPr algn="ctr">
              <a:buNone/>
              <a:def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incoming/*.pdf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887A0BE7-DF70-4AEC-E9EA-BF6E040B6EEE}"/>
              </a:ext>
            </a:extLst>
          </p:cNvPr>
          <p:cNvSpPr>
            <a:spLocks noGrp="1"/>
          </p:cNvSpPr>
          <p:nvPr/>
        </p:nvSpPr>
        <p:spPr>
          <a:xfrm>
            <a:off x="9379990" y="3362722"/>
            <a:ext cx="91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 lnSpcReduction="10000"/>
          </a:bodyPr>
          <a:lstStyle/>
          <a:p>
            <a:pPr algn="ctr">
              <a:buNone/>
              <a:def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パスワード無し</a:t>
            </a:r>
            <a:br/>
            <a:r>
              <a: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PDF保存</a:t>
            </a:r>
          </a:p>
        </p:txBody>
      </p: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03987627-7BC0-DC3A-9958-E962BBC99DA1}"/>
              </a:ext>
            </a:extLst>
          </p:cNvPr>
          <p:cNvSpPr>
            <a:spLocks noGrp="1"/>
          </p:cNvSpPr>
          <p:nvPr/>
        </p:nvSpPr>
        <p:spPr>
          <a:xfrm>
            <a:off x="7405720" y="4994753"/>
            <a:ext cx="1111250" cy="954087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</p:spPr>
      </p:sp>
      <p:pic>
        <p:nvPicPr>
          <p:cNvPr id="268" name="図 119">
            <a:extLst>
              <a:ext uri="{FF2B5EF4-FFF2-40B4-BE49-F238E27FC236}">
                <a16:creationId xmlns:a16="http://schemas.microsoft.com/office/drawing/2014/main" id="{B687FEE6-F441-EE0D-9176-0CA615743B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685120" y="5090003"/>
            <a:ext cx="533400" cy="533400"/>
          </a:xfrm>
          <a:prstGeom prst="rect">
            <a:avLst/>
          </a:prstGeom>
        </p:spPr>
      </p:pic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17BF6EDD-5C76-17EF-542E-C2B68715D663}"/>
              </a:ext>
            </a:extLst>
          </p:cNvPr>
          <p:cNvSpPr>
            <a:spLocks noGrp="1"/>
          </p:cNvSpPr>
          <p:nvPr/>
        </p:nvSpPr>
        <p:spPr>
          <a:xfrm>
            <a:off x="7408895" y="5623403"/>
            <a:ext cx="1085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686" lnSpcReduction="20000"/>
          </a:bodyPr>
          <a:lstStyle/>
          <a:p>
            <a:pPr algn="ctr">
              <a:buNone/>
              <a:defRPr sz="1275" b="1">
                <a:solidFill>
                  <a:srgbClr val="232F3E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AWS IAM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A088D78A-E55F-33D0-D66A-1C311449D8BB}"/>
              </a:ext>
            </a:extLst>
          </p:cNvPr>
          <p:cNvSpPr>
            <a:spLocks noGrp="1"/>
          </p:cNvSpPr>
          <p:nvPr/>
        </p:nvSpPr>
        <p:spPr>
          <a:xfrm>
            <a:off x="7408895" y="5767865"/>
            <a:ext cx="1085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278" lnSpcReduction="20000"/>
          </a:bodyPr>
          <a:lstStyle/>
          <a:p>
            <a:pPr algn="ctr">
              <a:buNone/>
              <a:def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S3 Get / Put権限</a:t>
            </a: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05451DCB-3E21-FD88-6176-54AABA381CF9}"/>
              </a:ext>
            </a:extLst>
          </p:cNvPr>
          <p:cNvSpPr>
            <a:spLocks noGrp="1"/>
          </p:cNvSpPr>
          <p:nvPr/>
        </p:nvSpPr>
        <p:spPr>
          <a:xfrm>
            <a:off x="5797618" y="4999928"/>
            <a:ext cx="1085850" cy="98742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</p:spPr>
      </p:sp>
      <p:pic>
        <p:nvPicPr>
          <p:cNvPr id="272" name="図 123">
            <a:extLst>
              <a:ext uri="{FF2B5EF4-FFF2-40B4-BE49-F238E27FC236}">
                <a16:creationId xmlns:a16="http://schemas.microsoft.com/office/drawing/2014/main" id="{8C11AED0-7F0A-00A5-4072-ED60A8944E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092893" y="5057078"/>
            <a:ext cx="533400" cy="533400"/>
          </a:xfrm>
          <a:prstGeom prst="rect">
            <a:avLst/>
          </a:prstGeom>
        </p:spPr>
      </p:pic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63F41AA2-6560-9DB5-6357-428A3AE9C7D5}"/>
              </a:ext>
            </a:extLst>
          </p:cNvPr>
          <p:cNvSpPr>
            <a:spLocks noGrp="1"/>
          </p:cNvSpPr>
          <p:nvPr/>
        </p:nvSpPr>
        <p:spPr>
          <a:xfrm>
            <a:off x="5740468" y="5600003"/>
            <a:ext cx="1238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186" lnSpcReduction="20000"/>
          </a:bodyPr>
          <a:lstStyle/>
          <a:p>
            <a:pPr algn="ctr">
              <a:buNone/>
              <a:defRPr sz="1275" b="1">
                <a:solidFill>
                  <a:srgbClr val="232F3E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CloudWatch Logs</a:t>
            </a: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D919981D-5CDC-F06B-4E2C-38FE4F0870BD}"/>
              </a:ext>
            </a:extLst>
          </p:cNvPr>
          <p:cNvSpPr>
            <a:spLocks noGrp="1"/>
          </p:cNvSpPr>
          <p:nvPr/>
        </p:nvSpPr>
        <p:spPr>
          <a:xfrm>
            <a:off x="5740468" y="5766691"/>
            <a:ext cx="1238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278" lnSpcReduction="20000"/>
          </a:bodyPr>
          <a:lstStyle/>
          <a:p>
            <a:pPr algn="ctr">
              <a:buNone/>
              <a:def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Lambda実行ログ</a:t>
            </a:r>
          </a:p>
        </p:txBody>
      </p:sp>
      <p:cxnSp>
        <p:nvCxnSpPr>
          <p:cNvPr id="275" name="直線矢印コネクタ 126">
            <a:extLst>
              <a:ext uri="{FF2B5EF4-FFF2-40B4-BE49-F238E27FC236}">
                <a16:creationId xmlns:a16="http://schemas.microsoft.com/office/drawing/2014/main" id="{551D39FA-F931-7085-B030-1287CC00CC67}"/>
              </a:ext>
            </a:extLst>
          </p:cNvPr>
          <p:cNvCxnSpPr>
            <a:cxnSpLocks/>
            <a:stCxn id="54" idx="3"/>
          </p:cNvCxnSpPr>
          <p:nvPr/>
        </p:nvCxnSpPr>
        <p:spPr>
          <a:xfrm flipH="1" flipV="1">
            <a:off x="5058203" y="4753139"/>
            <a:ext cx="3458767" cy="718658"/>
          </a:xfrm>
          <a:prstGeom prst="straightConnector1">
            <a:avLst/>
          </a:prstGeom>
          <a:ln w="0">
            <a:noFill/>
            <a:prstDash val="solid"/>
            <a:tailEnd type="none" w="med" len="med"/>
          </a:ln>
        </p:spPr>
      </p:cxnSp>
      <p:cxnSp>
        <p:nvCxnSpPr>
          <p:cNvPr id="276" name="直線矢印コネクタ 127">
            <a:extLst>
              <a:ext uri="{FF2B5EF4-FFF2-40B4-BE49-F238E27FC236}">
                <a16:creationId xmlns:a16="http://schemas.microsoft.com/office/drawing/2014/main" id="{DA6E28BF-F6B9-5AEF-FE44-E732832B1CE6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6883468" y="4990966"/>
            <a:ext cx="1344346" cy="502675"/>
          </a:xfrm>
          <a:prstGeom prst="straightConnector1">
            <a:avLst/>
          </a:prstGeom>
          <a:ln w="0">
            <a:noFill/>
            <a:prstDash val="solid"/>
            <a:tailEnd type="none" w="med" len="med"/>
          </a:ln>
        </p:spPr>
      </p:cxn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2493F424-952F-36DB-456A-CAF895B7D77D}"/>
              </a:ext>
            </a:extLst>
          </p:cNvPr>
          <p:cNvSpPr>
            <a:spLocks noGrp="1"/>
          </p:cNvSpPr>
          <p:nvPr/>
        </p:nvSpPr>
        <p:spPr>
          <a:xfrm>
            <a:off x="7933433" y="4783580"/>
            <a:ext cx="990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00" b="0" dirty="0" err="1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共通実行ロール</a:t>
            </a:r>
            <a:endParaRPr sz="900" b="0" dirty="0">
              <a:solidFill>
                <a:srgbClr val="5F6B7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0D6A6358-5CBB-8767-0D9C-04CC7FF3A166}"/>
              </a:ext>
            </a:extLst>
          </p:cNvPr>
          <p:cNvSpPr>
            <a:spLocks noGrp="1"/>
          </p:cNvSpPr>
          <p:nvPr/>
        </p:nvSpPr>
        <p:spPr>
          <a:xfrm>
            <a:off x="6197668" y="6207388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900" b="0" dirty="0" err="1">
                <a:solidFill>
                  <a:srgbClr val="5F6B7A"/>
                </a:solidFill>
                <a:latin typeface="Yu Gothic"/>
                <a:ea typeface="Yu Gothic"/>
                <a:cs typeface="Yu Gothic"/>
              </a:rPr>
              <a:t>ログ出力</a:t>
            </a:r>
            <a:endParaRPr sz="900" b="0" dirty="0">
              <a:solidFill>
                <a:srgbClr val="5F6B7A"/>
              </a:solidFill>
              <a:latin typeface="Yu Gothic"/>
              <a:ea typeface="Yu Gothic"/>
              <a:cs typeface="Yu Gothic"/>
            </a:endParaRPr>
          </a:p>
        </p:txBody>
      </p:sp>
      <p:cxnSp>
        <p:nvCxnSpPr>
          <p:cNvPr id="279" name="直線矢印コネクタ 17">
            <a:extLst>
              <a:ext uri="{FF2B5EF4-FFF2-40B4-BE49-F238E27FC236}">
                <a16:creationId xmlns:a16="http://schemas.microsoft.com/office/drawing/2014/main" id="{A972F76D-8C43-79FF-C269-917DB904AC1E}"/>
              </a:ext>
            </a:extLst>
          </p:cNvPr>
          <p:cNvCxnSpPr>
            <a:stCxn id="20" idx="2"/>
            <a:endCxn id="38" idx="0"/>
          </p:cNvCxnSpPr>
          <p:nvPr/>
        </p:nvCxnSpPr>
        <p:spPr>
          <a:xfrm>
            <a:off x="6307692" y="3019822"/>
            <a:ext cx="720965" cy="810944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0" name="直線矢印コネクタ 35">
            <a:extLst>
              <a:ext uri="{FF2B5EF4-FFF2-40B4-BE49-F238E27FC236}">
                <a16:creationId xmlns:a16="http://schemas.microsoft.com/office/drawing/2014/main" id="{ED8F577B-598C-F477-0442-3014C35CFEF7}"/>
              </a:ext>
            </a:extLst>
          </p:cNvPr>
          <p:cNvCxnSpPr>
            <a:cxnSpLocks/>
            <a:stCxn id="38" idx="0"/>
            <a:endCxn id="25" idx="2"/>
          </p:cNvCxnSpPr>
          <p:nvPr/>
        </p:nvCxnSpPr>
        <p:spPr>
          <a:xfrm flipV="1">
            <a:off x="7028657" y="3019822"/>
            <a:ext cx="1124743" cy="810944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1" name="直線矢印コネクタ 45">
            <a:extLst>
              <a:ext uri="{FF2B5EF4-FFF2-40B4-BE49-F238E27FC236}">
                <a16:creationId xmlns:a16="http://schemas.microsoft.com/office/drawing/2014/main" id="{D623060D-455C-B245-B26F-A5A4DBC258B5}"/>
              </a:ext>
            </a:extLst>
          </p:cNvPr>
          <p:cNvCxnSpPr>
            <a:cxnSpLocks/>
            <a:stCxn id="25" idx="2"/>
            <a:endCxn id="42" idx="0"/>
          </p:cNvCxnSpPr>
          <p:nvPr/>
        </p:nvCxnSpPr>
        <p:spPr>
          <a:xfrm>
            <a:off x="8153400" y="3019822"/>
            <a:ext cx="717550" cy="810944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2" name="直線矢印コネクタ 51">
            <a:extLst>
              <a:ext uri="{FF2B5EF4-FFF2-40B4-BE49-F238E27FC236}">
                <a16:creationId xmlns:a16="http://schemas.microsoft.com/office/drawing/2014/main" id="{60B355C7-64BB-3B8A-91FC-5618F142C61A}"/>
              </a:ext>
            </a:extLst>
          </p:cNvPr>
          <p:cNvCxnSpPr>
            <a:cxnSpLocks/>
            <a:stCxn id="42" idx="0"/>
            <a:endCxn id="29" idx="2"/>
          </p:cNvCxnSpPr>
          <p:nvPr/>
        </p:nvCxnSpPr>
        <p:spPr>
          <a:xfrm flipV="1">
            <a:off x="8870950" y="3019822"/>
            <a:ext cx="1172091" cy="810944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6" name="PDF_PASSWORD environment variable">
            <a:extLst>
              <a:ext uri="{FF2B5EF4-FFF2-40B4-BE49-F238E27FC236}">
                <a16:creationId xmlns:a16="http://schemas.microsoft.com/office/drawing/2014/main" id="{2822483D-5FC6-FFA9-E064-DF721D5150EA}"/>
              </a:ext>
            </a:extLst>
          </p:cNvPr>
          <p:cNvSpPr>
            <a:spLocks noGrp="1"/>
          </p:cNvSpPr>
          <p:nvPr/>
        </p:nvSpPr>
        <p:spPr>
          <a:xfrm>
            <a:off x="9363074" y="5084892"/>
            <a:ext cx="2000250" cy="495300"/>
          </a:xfrm>
          <a:prstGeom prst="roundRect">
            <a:avLst>
              <a:gd name="adj" fmla="val 15385"/>
            </a:avLst>
          </a:prstGeom>
          <a:solidFill>
            <a:srgbClr val="FFF3E8"/>
          </a:solidFill>
          <a:ln w="14288">
            <a:solidFill>
              <a:srgbClr val="D86613"/>
            </a:solidFill>
            <a:prstDash val="solid"/>
          </a:ln>
        </p:spPr>
        <p:txBody>
          <a:bodyPr anchor="ctr">
            <a:normAutofit fontScale="89035" lnSpcReduction="20000"/>
          </a:bodyPr>
          <a:lstStyle/>
          <a:p>
            <a:pPr algn="ctr">
              <a:buNone/>
              <a:defRPr sz="975" b="0">
                <a:solidFill>
                  <a:srgbClr val="232F3E"/>
                </a:solidFill>
                <a:latin typeface="Yu Gothic"/>
                <a:ea typeface="Yu Gothic"/>
                <a:cs typeface="Yu Gothic"/>
              </a:defRPr>
            </a:pPr>
            <a:r>
              <a:rPr sz="975" b="0" dirty="0" err="1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環境変数</a:t>
            </a:r>
            <a:r>
              <a:rPr sz="975" b="0" dirty="0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  PDF_PASSWORD</a:t>
            </a:r>
          </a:p>
          <a:p>
            <a:pPr algn="ctr">
              <a:buNone/>
              <a:defRPr sz="975" b="0">
                <a:solidFill>
                  <a:srgbClr val="232F3E"/>
                </a:solidFill>
                <a:latin typeface="Yu Gothic"/>
                <a:ea typeface="Yu Gothic"/>
                <a:cs typeface="Yu Gothic"/>
              </a:defRPr>
            </a:pPr>
            <a:r>
              <a:rPr sz="975" b="0" dirty="0" err="1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Terraform変数</a:t>
            </a:r>
            <a:r>
              <a:rPr sz="975" b="0" dirty="0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sz="975" b="0" dirty="0" err="1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pdf_password</a:t>
            </a:r>
            <a:r>
              <a:rPr sz="975" b="0" dirty="0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sz="975" b="0" dirty="0" err="1">
                <a:solidFill>
                  <a:srgbClr val="232F3E"/>
                </a:solidFill>
                <a:latin typeface="Yu Gothic"/>
                <a:ea typeface="Yu Gothic"/>
                <a:cs typeface="Yu Gothic"/>
              </a:rPr>
              <a:t>から設定</a:t>
            </a:r>
            <a:endParaRPr sz="975" b="0" dirty="0">
              <a:solidFill>
                <a:srgbClr val="232F3E"/>
              </a:solidFill>
              <a:latin typeface="Yu Gothic"/>
              <a:ea typeface="Yu Gothic"/>
              <a:cs typeface="Yu Gothic"/>
            </a:endParaRPr>
          </a:p>
        </p:txBody>
      </p:sp>
      <p:cxnSp>
        <p:nvCxnSpPr>
          <p:cNvPr id="284" name="直線矢印コネクタ 283">
            <a:extLst>
              <a:ext uri="{FF2B5EF4-FFF2-40B4-BE49-F238E27FC236}">
                <a16:creationId xmlns:a16="http://schemas.microsoft.com/office/drawing/2014/main" id="{582F1F65-BF23-4369-C5B6-63DD9ED9108D}"/>
              </a:ext>
            </a:extLst>
          </p:cNvPr>
          <p:cNvCxnSpPr>
            <a:cxnSpLocks/>
            <a:stCxn id="136" idx="0"/>
            <a:endCxn id="42" idx="3"/>
          </p:cNvCxnSpPr>
          <p:nvPr/>
        </p:nvCxnSpPr>
        <p:spPr>
          <a:xfrm flipH="1" flipV="1">
            <a:off x="9413875" y="4310191"/>
            <a:ext cx="949324" cy="774701"/>
          </a:xfrm>
          <a:prstGeom prst="straightConnector1">
            <a:avLst/>
          </a:prstGeom>
          <a:ln w="14288">
            <a:solidFill>
              <a:srgbClr val="D86613"/>
            </a:solidFill>
            <a:prstDash val="dash"/>
            <a:tailEnd type="triangle" w="sm" len="sm"/>
          </a:ln>
        </p:spPr>
      </p:cxnSp>
      <p:cxnSp>
        <p:nvCxnSpPr>
          <p:cNvPr id="286" name="コネクタ: カギ線 285">
            <a:extLst>
              <a:ext uri="{FF2B5EF4-FFF2-40B4-BE49-F238E27FC236}">
                <a16:creationId xmlns:a16="http://schemas.microsoft.com/office/drawing/2014/main" id="{D4EE7C7B-DBD0-D4B5-B65E-6233FBD5AE04}"/>
              </a:ext>
            </a:extLst>
          </p:cNvPr>
          <p:cNvCxnSpPr>
            <a:cxnSpLocks/>
            <a:stCxn id="54" idx="0"/>
            <a:endCxn id="42" idx="1"/>
          </p:cNvCxnSpPr>
          <p:nvPr/>
        </p:nvCxnSpPr>
        <p:spPr>
          <a:xfrm rot="5400000" flipH="1" flipV="1">
            <a:off x="7802404" y="4469132"/>
            <a:ext cx="684562" cy="366680"/>
          </a:xfrm>
          <a:prstGeom prst="bentConnector2">
            <a:avLst/>
          </a:prstGeom>
          <a:ln w="15240">
            <a:solidFill>
              <a:srgbClr val="527AA3"/>
            </a:solidFill>
            <a:prstDash val="dash"/>
            <a:tailEnd type="triangle" w="sm" len="sm"/>
          </a:ln>
        </p:spPr>
      </p:cxnSp>
      <p:cxnSp>
        <p:nvCxnSpPr>
          <p:cNvPr id="288" name="コネクタ: カギ線 287">
            <a:extLst>
              <a:ext uri="{FF2B5EF4-FFF2-40B4-BE49-F238E27FC236}">
                <a16:creationId xmlns:a16="http://schemas.microsoft.com/office/drawing/2014/main" id="{7A56F8FB-200C-46BF-67D0-2C1EC198E857}"/>
              </a:ext>
            </a:extLst>
          </p:cNvPr>
          <p:cNvCxnSpPr>
            <a:cxnSpLocks/>
            <a:stCxn id="38" idx="2"/>
            <a:endCxn id="58" idx="2"/>
          </p:cNvCxnSpPr>
          <p:nvPr/>
        </p:nvCxnSpPr>
        <p:spPr>
          <a:xfrm rot="5400000">
            <a:off x="6085732" y="5044427"/>
            <a:ext cx="1197737" cy="688114"/>
          </a:xfrm>
          <a:prstGeom prst="bentConnector3">
            <a:avLst>
              <a:gd name="adj1" fmla="val 119086"/>
            </a:avLst>
          </a:prstGeom>
          <a:ln w="15240">
            <a:solidFill>
              <a:srgbClr val="C2185B"/>
            </a:solidFill>
            <a:prstDash val="dash"/>
            <a:tailEnd type="triangle" w="sm" len="sm"/>
          </a:ln>
        </p:spPr>
      </p:cxnSp>
      <p:cxnSp>
        <p:nvCxnSpPr>
          <p:cNvPr id="50" name="コネクタ: カギ線 49">
            <a:extLst>
              <a:ext uri="{FF2B5EF4-FFF2-40B4-BE49-F238E27FC236}">
                <a16:creationId xmlns:a16="http://schemas.microsoft.com/office/drawing/2014/main" id="{5CC2DE21-9EBA-AB0D-1FE3-05A47757B9A6}"/>
              </a:ext>
            </a:extLst>
          </p:cNvPr>
          <p:cNvCxnSpPr>
            <a:cxnSpLocks/>
            <a:stCxn id="54" idx="0"/>
            <a:endCxn id="38" idx="3"/>
          </p:cNvCxnSpPr>
          <p:nvPr/>
        </p:nvCxnSpPr>
        <p:spPr>
          <a:xfrm rot="16200000" flipV="1">
            <a:off x="7400767" y="4434174"/>
            <a:ext cx="684562" cy="436595"/>
          </a:xfrm>
          <a:prstGeom prst="bentConnector2">
            <a:avLst/>
          </a:prstGeom>
          <a:ln w="15240">
            <a:solidFill>
              <a:srgbClr val="527AA3"/>
            </a:solidFill>
            <a:prstDash val="dash"/>
            <a:tailEnd type="triangle" w="sm" len="sm"/>
          </a:ln>
        </p:spPr>
      </p:cxnSp>
      <p:cxnSp>
        <p:nvCxnSpPr>
          <p:cNvPr id="70" name="コネクタ: カギ線 69">
            <a:extLst>
              <a:ext uri="{FF2B5EF4-FFF2-40B4-BE49-F238E27FC236}">
                <a16:creationId xmlns:a16="http://schemas.microsoft.com/office/drawing/2014/main" id="{B90D79A9-68C6-B040-623C-2601D3A45D39}"/>
              </a:ext>
            </a:extLst>
          </p:cNvPr>
          <p:cNvCxnSpPr>
            <a:cxnSpLocks/>
            <a:stCxn id="42" idx="2"/>
            <a:endCxn id="58" idx="2"/>
          </p:cNvCxnSpPr>
          <p:nvPr/>
        </p:nvCxnSpPr>
        <p:spPr>
          <a:xfrm rot="5400000">
            <a:off x="7006879" y="4123281"/>
            <a:ext cx="1197737" cy="2530407"/>
          </a:xfrm>
          <a:prstGeom prst="bentConnector3">
            <a:avLst>
              <a:gd name="adj1" fmla="val 119086"/>
            </a:avLst>
          </a:prstGeom>
          <a:ln w="15240">
            <a:solidFill>
              <a:srgbClr val="C2185B"/>
            </a:solidFill>
            <a:prstDash val="dash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6738852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2521</TotalTime>
  <Words>178</Words>
  <Application>Microsoft Office PowerPoint</Application>
  <DocSecurity>0</DocSecurity>
  <PresentationFormat>ワイド画面</PresentationFormat>
  <Paragraphs>47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Yu Gothic</vt:lpstr>
      <vt:lpstr>Calibri</vt:lpstr>
      <vt:lpstr>ChatGPT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Shinji Kaneko</cp:lastModifiedBy>
  <cp:revision>10</cp:revision>
  <dcterms:created xsi:type="dcterms:W3CDTF">2026-09-09T07:19:42Z</dcterms:created>
  <dcterms:modified xsi:type="dcterms:W3CDTF">2026-09-13T03:03:13Z</dcterms:modified>
</cp:coreProperties>
</file>